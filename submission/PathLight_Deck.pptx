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90c4b0a-a592-fb58-2a6b-8de42d279331}">
          <p14:sldIdLst>
            <p14:sldId id="256"/>
            <p14:sldId id="257"/>
          </p14:sldIdLst>
        </p14:section>
        <p14:section name="Problem" id="{5ba5c1ec-b412-d2bf-164d-0f9512fb3866}">
          <p14:sldIdLst>
            <p14:sldId id="258"/>
          </p14:sldIdLst>
        </p14:section>
        <p14:section name="Solution" id="{025bb892-a9c5-350d-6908-386883ecfd95}">
          <p14:sldIdLst>
            <p14:sldId id="259"/>
            <p14:sldId id="260"/>
            <p14:sldId id="261"/>
            <p14:sldId id="262"/>
          </p14:sldIdLst>
        </p14:section>
        <p14:section name="How it works" id="{f0e51dc2-3227-00d5-7807-7874b4f48867}">
          <p14:sldIdLst>
            <p14:sldId id="263"/>
            <p14:sldId id="264"/>
          </p14:sldIdLst>
        </p14:section>
        <p14:section name="Impact" id="{fad9b807-752e-f94d-9edf-e8e7e85d177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171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171C"/>
                </a:solidFill>
                <a:latin typeface="+mn-lt"/>
              </a:rPr>
              <a:t>Held-out test half: agreement when PathLight answers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 with curated TCGA record</c:v>
                </c:pt>
              </c:strCache>
            </c:strRef>
          </c:tx>
          <c:spPr>
            <a:solidFill>
              <a:srgbClr val="2342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17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ER</c:v>
                  </c:pt>
                  <c:pt idx="1">
                    <c:v>Pathologic N</c:v>
                  </c:pt>
                  <c:pt idx="2">
                    <c:v>Pathologic T</c:v>
                  </c:pt>
                  <c:pt idx="3">
                    <c:v>PR</c:v>
                  </c:pt>
                  <c:pt idx="4">
                    <c:v>Breslow</c:v>
                  </c:pt>
                  <c:pt idx="5">
                    <c:v>Gleason</c:v>
                  </c:pt>
                  <c:pt idx="6">
                    <c:v>Nodes positive</c:v>
                  </c:pt>
                  <c:pt idx="7">
                    <c:v>HER2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97.5</c:v>
                </c:pt>
                <c:pt idx="1">
                  <c:v>98.2</c:v>
                </c:pt>
                <c:pt idx="2">
                  <c:v>96.8</c:v>
                </c:pt>
                <c:pt idx="3">
                  <c:v>92.5</c:v>
                </c:pt>
                <c:pt idx="4">
                  <c:v>91.7</c:v>
                </c:pt>
                <c:pt idx="5">
                  <c:v>90.2</c:v>
                </c:pt>
                <c:pt idx="6">
                  <c:v>89</c:v>
                </c:pt>
                <c:pt idx="7">
                  <c:v>76.9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517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517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b"/>
        <c:majorGridlines>
          <c:spPr>
            <a:ln w="12700" cap="flat">
              <a:solidFill>
                <a:srgbClr val="E1DE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07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Hi, I am [name]. I want to start with a notification that millions of people get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Cures Act this arrives the moment it is signed. Read it as a patient would: pT2, pN0 sn, HER2 negative, score one-plus. What does any of that mean?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 2023 survey across four academic medical centers nearly everyone wanted immediate access, but one in six people with abnormal results felt more worried, and four in ten went to Google.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tools replace the report with a dashboard. PathLight keeps the patient's own report as the page and annotates it the way a careful reader marks paper: a highlighter, a footnote number, and a note in the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a plain-English summary and the key facts. Every highlighted phrase links to its note. On a phone the notes become footnotes.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report says HER2 negative. But a score of one-plus is now called HER2-low, and a newer medicine is approved for HER2-low cancer that has spread. A patient reading the word negative would never know to ask, so PathLight explains it and adds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connections. A live search of recruiting trials: the patient sees exactly what is sent, a cancer type, one marker and a city. And on-device OCR, so a photo of a paper report works. The browser policy makes privacy a guarantee, not a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 comes from paste, pdf.js, or on-device OCR. A normaliser fixes common OCR errors. More than twenty extractors run with NegEx-style negation and specimen-aware lymph node counting. Every finding keeps character offsets, which drive the highlights, the margin layout and the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 not stop at synthetic reports. On 1,548 real held-out pathology reports from The Cancer Genome Atlas, 92.6 percent of the values PathLight reported matched the curated record, up from 89.5 percent before error analysis on a separate development half. When it is unsure it stays silent, which is why it answers about two thirds of the time. HER2 is the weakest field and the next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costs nothing to run at any scale and holds no health data, which removes the biggest barrier to adoption. Next: a pathologist reviewing every explanation, Spanish, and a comprehension study. A diagnosis is one of the hardest moments in a life. PathLight cannot change the result, but it can make sure no one faces that page alone or confused.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_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_PAG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Shape 0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C8C4B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PathLight · CodeTheCure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CODETHECURE 2026 · DETECTION &amp; DIAGNOSIS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7200" dirty="0">
                <a:solidFill>
                  <a:schemeClr val="tx1"/>
                </a:solidFill>
              </a:rPr>
              <a:t>PathLight</a:t>
            </a:r>
            <a:endParaRPr lang="en-US" sz="7200" dirty="0"/>
          </a:p>
        </p:txBody>
      </p:sp>
      <p:sp>
        <p:nvSpPr>
          <p:cNvPr id="4" name="cover-marker"/>
          <p:cNvSpPr/>
          <p:nvPr/>
        </p:nvSpPr>
        <p:spPr>
          <a:xfrm>
            <a:off x="4370832" y="3877056"/>
            <a:ext cx="3090672" cy="25603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35204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pathology report, read alongside you.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Free · runs entirely in the browser · checked on 1,548 real reports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The page a patient actually sees</a:t>
            </a:r>
            <a:endParaRPr lang="en-US" sz="3400" dirty="0"/>
          </a:p>
        </p:txBody>
      </p:sp>
      <p:sp>
        <p:nvSpPr>
          <p:cNvPr id="3" name="report-sheet"/>
          <p:cNvSpPr/>
          <p:nvPr/>
        </p:nvSpPr>
        <p:spPr>
          <a:xfrm>
            <a:off x="640080" y="1463040"/>
            <a:ext cx="5760720" cy="374904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27000" dist="38100" dir="5400000">
              <a:srgbClr val="15171C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737360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SURGICAL PATHOLOGY REPORT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DIAGNOSIS: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Left breast, lumpectomy: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Invasive ductal carcinoma,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Nottingham grade 2 (6/9).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Margins negative for invasive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carcinoma and DCIS.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pT2 pN0(sn)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HER2 (IHC): Negative (Score 1+)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Lymphovascular invasion: Not identified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55448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2"/>
                </a:solidFill>
              </a:rPr>
              <a:t>Since the 21st Century Cures Act rules took effect in 2021, it arrives in the patient portal the moment it is signed, often before the doctor calls.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32918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understand from it?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Synthetic example report.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Patients want results now, but read them alone</a:t>
            </a:r>
            <a:endParaRPr lang="en-US" sz="3400" dirty="0"/>
          </a:p>
        </p:txBody>
      </p:sp>
      <p:sp>
        <p:nvSpPr>
          <p:cNvPr id="3" name="stat-marker-0"/>
          <p:cNvSpPr/>
          <p:nvPr/>
        </p:nvSpPr>
        <p:spPr>
          <a:xfrm>
            <a:off x="640080" y="2148840"/>
            <a:ext cx="265176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95.7%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of 8,139 portal users want results immediately, even before their clinician has reviewed them</a:t>
            </a:r>
            <a:endParaRPr lang="en-US" sz="1700" dirty="0"/>
          </a:p>
        </p:txBody>
      </p:sp>
      <p:sp>
        <p:nvSpPr>
          <p:cNvPr id="6" name="rule-1"/>
          <p:cNvSpPr/>
          <p:nvPr/>
        </p:nvSpPr>
        <p:spPr>
          <a:xfrm>
            <a:off x="4160520" y="1645920"/>
            <a:ext cx="0" cy="2651760"/>
          </a:xfrm>
          <a:prstGeom prst="line">
            <a:avLst/>
          </a:prstGeom>
          <a:noFill/>
          <a:ln w="9525">
            <a:solidFill>
              <a:srgbClr val="C8C4BA"/>
            </a:solidFill>
            <a:prstDash val="solid"/>
          </a:ln>
        </p:spPr>
      </p:sp>
      <p:sp>
        <p:nvSpPr>
          <p:cNvPr id="7" name="stat-marker-1"/>
          <p:cNvSpPr/>
          <p:nvPr/>
        </p:nvSpPr>
        <p:spPr>
          <a:xfrm>
            <a:off x="4389120" y="2148840"/>
            <a:ext cx="265176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554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16.5%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834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of those with abnormal results felt more worried reading them before talking to a clinician</a:t>
            </a:r>
            <a:endParaRPr lang="en-US" sz="1700" dirty="0"/>
          </a:p>
        </p:txBody>
      </p:sp>
      <p:sp>
        <p:nvSpPr>
          <p:cNvPr id="10" name="rule-2"/>
          <p:cNvSpPr/>
          <p:nvPr/>
        </p:nvSpPr>
        <p:spPr>
          <a:xfrm>
            <a:off x="7909560" y="1645920"/>
            <a:ext cx="0" cy="2651760"/>
          </a:xfrm>
          <a:prstGeom prst="line">
            <a:avLst/>
          </a:prstGeom>
          <a:noFill/>
          <a:ln w="9525">
            <a:solidFill>
              <a:srgbClr val="C8C4BA"/>
            </a:solidFill>
            <a:prstDash val="solid"/>
          </a:ln>
        </p:spPr>
      </p:sp>
      <p:sp>
        <p:nvSpPr>
          <p:cNvPr id="11" name="stat-marker-2"/>
          <p:cNvSpPr/>
          <p:nvPr/>
        </p:nvSpPr>
        <p:spPr>
          <a:xfrm>
            <a:off x="8138160" y="2148840"/>
            <a:ext cx="2651760" cy="38404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5544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39.9%</a:t>
            </a:r>
            <a:endParaRPr lang="en-US" sz="64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8346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searched the internet to understand their results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The options today: search engines (generic and frightening), chatbots (they receive your health record and can make things up), or waiting days for the appointment.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Source: Steitz BD et al. JAMA Netw Open. 2023;6(3):e233572.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The idea: your own report becomes the interface</a:t>
            </a:r>
            <a:endParaRPr lang="en-US" sz="3400" dirty="0"/>
          </a:p>
        </p:txBody>
      </p:sp>
      <p:pic>
        <p:nvPicPr>
          <p:cNvPr id="3" name="shot-annotated" descr="The annotated report: highlights with footnote numbers and margin no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663440" cy="481148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4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943600" y="151790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Marked in the report itself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93852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Each finding is highlighted where it appears and numbered like a footnote.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7523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plain-language note beside it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31729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Margin notes on desktop, footnotes on a phone. Click either side to jump to the other.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9867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Checkable, private, humane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40740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Every note cites its words. Nothing leaves the device. A "Before you read" check-in sets the pace.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Walkthrough: a summary first, then every detail</a:t>
            </a:r>
            <a:endParaRPr lang="en-US" sz="3400" dirty="0"/>
          </a:p>
        </p:txBody>
      </p:sp>
      <p:pic>
        <p:nvPicPr>
          <p:cNvPr id="3" name="shot-reading" descr="Reading view: plain-English summary and key fac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223760" cy="451485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4000"/>
              </a:srgbClr>
            </a:outerShdw>
          </a:effectLst>
        </p:spPr>
      </p:pic>
      <p:pic>
        <p:nvPicPr>
          <p:cNvPr id="4" name="shot-mobile" descr="Phone layout of the read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371600"/>
            <a:ext cx="2194560" cy="4749253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4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640080" y="59436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Summary written by fixed rules, not AI; each highlighted phrase links to its note.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“Negative” is not the whole story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THE REPORT SAYS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HER2 (IHC): Negative (Score 1+)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chemeClr val="accent6"/>
                </a:solidFill>
              </a:rPr>
              <a:t>PATHLIGHT EXPLAINS</a:t>
            </a:r>
            <a:endParaRPr lang="en-US" sz="1100" dirty="0"/>
          </a:p>
        </p:txBody>
      </p:sp>
      <p:sp>
        <p:nvSpPr>
          <p:cNvPr id="6" name="her2-marker"/>
          <p:cNvSpPr/>
          <p:nvPr/>
        </p:nvSpPr>
        <p:spPr>
          <a:xfrm>
            <a:off x="640080" y="3200400"/>
            <a:ext cx="2194560" cy="2926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HER2-low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947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1+ score is "HER2-low". Since 2022, trastuzumab deruxtecan has been FDA-approved for HER2-low breast cancer that has spread. The word "negative" hides that.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57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Question added for the patient: "My HER2 result is low. Does that matter for any treatment options now or later?"</a:t>
            </a:r>
            <a:endParaRPr lang="en-US" sz="1400" dirty="0"/>
          </a:p>
        </p:txBody>
      </p:sp>
      <p:pic>
        <p:nvPicPr>
          <p:cNvPr id="10" name="shot-her2" descr="The HER2 line highlighted, with note 10 explaining HER2-lo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463040"/>
            <a:ext cx="6263640" cy="298268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4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Connected, without giving up privacy</a:t>
            </a:r>
            <a:endParaRPr lang="en-US" sz="3400" dirty="0"/>
          </a:p>
        </p:txBody>
      </p:sp>
      <p:pic>
        <p:nvPicPr>
          <p:cNvPr id="3" name="shot-trials" descr="Live clinical-trial results near Seattle, with exactly what was s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6583680" cy="411480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15171C">
                <a:alpha val="14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7680960" y="142646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Live clinical-trial search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84708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ClinicalTrials.gov API v2, free with no key. It sends a condition, one marker and an optional place, shown before sending.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27523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Photos and scans, read on-device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1729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tesseract.js (WebAssembly) and its English model are served by the site. A test photo took about 7 seconds.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0782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114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Enforced by the browser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49884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Content-Security-Policy allows one outside address. Nothing else can be contacted.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623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connect-src 'self' https://clinicaltrials.gov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5440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The exact rule shipped with the site, and shown on its landing page.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Technical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arch-rule-0"/>
          <p:cNvSpPr/>
          <p:nvPr/>
        </p:nvSpPr>
        <p:spPr>
          <a:xfrm>
            <a:off x="640080" y="2148840"/>
            <a:ext cx="1645920" cy="0"/>
          </a:xfrm>
          <a:prstGeom prst="line">
            <a:avLst/>
          </a:prstGeom>
          <a:noFill/>
          <a:ln w="15875">
            <a:solidFill>
              <a:srgbClr val="15171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Input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Paste, PDF, photo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9631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arch-rule-1"/>
          <p:cNvSpPr/>
          <p:nvPr/>
        </p:nvSpPr>
        <p:spPr>
          <a:xfrm>
            <a:off x="2496312" y="2148840"/>
            <a:ext cx="1645920" cy="0"/>
          </a:xfrm>
          <a:prstGeom prst="line">
            <a:avLst/>
          </a:prstGeom>
          <a:noFill/>
          <a:ln w="15875">
            <a:solidFill>
              <a:srgbClr val="1517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96312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496312" y="2697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pdf.js or on-device OCR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5254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arch-rule-2"/>
          <p:cNvSpPr/>
          <p:nvPr/>
        </p:nvSpPr>
        <p:spPr>
          <a:xfrm>
            <a:off x="4352544" y="2148840"/>
            <a:ext cx="1645920" cy="0"/>
          </a:xfrm>
          <a:prstGeom prst="line">
            <a:avLst/>
          </a:prstGeom>
          <a:noFill/>
          <a:ln w="15875">
            <a:solidFill>
              <a:srgbClr val="1517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52544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Normalise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52544" y="2697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OCR fixes: pNO → pN0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08776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6" name="arch-rule-3"/>
          <p:cNvSpPr/>
          <p:nvPr/>
        </p:nvSpPr>
        <p:spPr>
          <a:xfrm>
            <a:off x="6208776" y="2148840"/>
            <a:ext cx="1645920" cy="0"/>
          </a:xfrm>
          <a:prstGeom prst="line">
            <a:avLst/>
          </a:prstGeom>
          <a:noFill/>
          <a:ln w="15875">
            <a:solidFill>
              <a:srgbClr val="15171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08776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Extract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08776" y="2697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20+ extractors, NegEx negation, specimen-aware counts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6500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arch-rule-4"/>
          <p:cNvSpPr/>
          <p:nvPr/>
        </p:nvSpPr>
        <p:spPr>
          <a:xfrm>
            <a:off x="8065008" y="2148840"/>
            <a:ext cx="1645920" cy="0"/>
          </a:xfrm>
          <a:prstGeom prst="line">
            <a:avLst/>
          </a:prstGeom>
          <a:noFill/>
          <a:ln w="15875">
            <a:solidFill>
              <a:srgbClr val="1517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65008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065008" y="2697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finding keeps its character offsets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921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arch-rule-5"/>
          <p:cNvSpPr/>
          <p:nvPr/>
        </p:nvSpPr>
        <p:spPr>
          <a:xfrm>
            <a:off x="9921240" y="2148840"/>
            <a:ext cx="1645920" cy="0"/>
          </a:xfrm>
          <a:prstGeom prst="line">
            <a:avLst/>
          </a:prstGeom>
          <a:noFill/>
          <a:ln w="15875">
            <a:solidFill>
              <a:srgbClr val="1517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21240" y="2286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Present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921240" y="26974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Summary, margin notes, questions, trial query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Stack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5720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 + TypeScript + Vite, static hosting on GitHub Pages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Pure TypeScript engine: no DOM, no network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118 Vitest tests; CI runs tests and evaluation on every push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rules, not an LLM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45720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Checkable: every note points to its source words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Guideline-encoded: AJCC 8, ASCO/CAP, ISUP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Private and free: no health data to a third party, no API cost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Validated on 1,548 real reports it had never seen</a:t>
            </a:r>
            <a:endParaRPr lang="en-US" sz="3400" dirty="0"/>
          </a:p>
        </p:txBody>
      </p:sp>
      <p:graphicFrame>
        <p:nvGraphicFramePr>
          <p:cNvPr id="3" name="tcga-chart" descr="Agreement by field: ER 97.5, N 98.2, T 96.8, PR 92.5, Breslow 91.7, Gleason 90.2, nodes positive 89.0, HER2 76.9"/>
          <p:cNvGraphicFramePr/>
          <p:nvPr/>
        </p:nvGraphicFramePr>
        <p:xfrm>
          <a:off x="640080" y="1325880"/>
          <a:ext cx="676656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big-stat-marker"/>
          <p:cNvSpPr/>
          <p:nvPr/>
        </p:nvSpPr>
        <p:spPr>
          <a:xfrm>
            <a:off x="7955280" y="1828800"/>
            <a:ext cx="2377440" cy="4114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955280" y="1188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92.6%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955280" y="24688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of 5,489 values agreed with the curated clinical record (8,150 labeled; 67% answered)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33924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Real data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38130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TCGA-Reports: 9,523 OCR'd reports (Kefeli &amp; Tatonetti, 2024), labels from cBioPortal.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5811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4617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Honest split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50017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Errors were studied on a dev half only. First version: 89.5% on the same test half.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chemeClr val="tx1"/>
                </a:solidFill>
              </a:rPr>
              <a:t>Impact and feasibility</a:t>
            </a:r>
            <a:endParaRPr lang="en-US" sz="3400" dirty="0"/>
          </a:p>
        </p:txBody>
      </p:sp>
      <p:sp>
        <p:nvSpPr>
          <p:cNvPr id="3" name="impact-rule-0"/>
          <p:cNvSpPr/>
          <p:nvPr/>
        </p:nvSpPr>
        <p:spPr>
          <a:xfrm>
            <a:off x="640080" y="1463040"/>
            <a:ext cx="6035040" cy="0"/>
          </a:xfrm>
          <a:prstGeom prst="line">
            <a:avLst/>
          </a:prstGeom>
          <a:noFill/>
          <a:ln w="9525">
            <a:solidFill>
              <a:srgbClr val="C8C4B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9105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$0 per user, at any scale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385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static site: computing happens on the patient's device, and no server ever holds health data.</a:t>
            </a:r>
            <a:endParaRPr lang="en-US" sz="1400" dirty="0"/>
          </a:p>
        </p:txBody>
      </p:sp>
      <p:sp>
        <p:nvSpPr>
          <p:cNvPr id="6" name="impact-rule-1"/>
          <p:cNvSpPr/>
          <p:nvPr/>
        </p:nvSpPr>
        <p:spPr>
          <a:xfrm>
            <a:off x="640080" y="2487168"/>
            <a:ext cx="6035040" cy="0"/>
          </a:xfrm>
          <a:prstGeom prst="line">
            <a:avLst/>
          </a:prstGeom>
          <a:noFill/>
          <a:ln w="9525">
            <a:solidFill>
              <a:srgbClr val="C8C4B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1518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Where it reaches people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6265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Links from patient portals and cancer-center education pages; caregivers; low-resource clinics.</a:t>
            </a:r>
            <a:endParaRPr lang="en-US" sz="1400" dirty="0"/>
          </a:p>
        </p:txBody>
      </p:sp>
      <p:sp>
        <p:nvSpPr>
          <p:cNvPr id="9" name="impact-rule-2"/>
          <p:cNvSpPr/>
          <p:nvPr/>
        </p:nvSpPr>
        <p:spPr>
          <a:xfrm>
            <a:off x="640080" y="3511296"/>
            <a:ext cx="6035040" cy="0"/>
          </a:xfrm>
          <a:prstGeom prst="line">
            <a:avLst/>
          </a:prstGeom>
          <a:noFill/>
          <a:ln w="9525">
            <a:solidFill>
              <a:srgbClr val="C8C4B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6393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we will measure it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8678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Comprehension and anxiety before and after; quality of the questions patients bring.</a:t>
            </a:r>
            <a:endParaRPr lang="en-US" sz="1400" dirty="0"/>
          </a:p>
        </p:txBody>
      </p:sp>
      <p:sp>
        <p:nvSpPr>
          <p:cNvPr id="12" name="impact-rule-3"/>
          <p:cNvSpPr/>
          <p:nvPr/>
        </p:nvSpPr>
        <p:spPr>
          <a:xfrm>
            <a:off x="640080" y="4535424"/>
            <a:ext cx="6035040" cy="0"/>
          </a:xfrm>
          <a:prstGeom prst="line">
            <a:avLst/>
          </a:prstGeom>
          <a:noFill/>
          <a:ln w="9525">
            <a:solidFill>
              <a:srgbClr val="C8C4B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6634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Next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01091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Pathologist review of every explanation, Spanish, more organs, an offline app.</a:t>
            </a:r>
            <a:endParaRPr lang="en-US" sz="1400" dirty="0"/>
          </a:p>
        </p:txBody>
      </p:sp>
      <p:sp>
        <p:nvSpPr>
          <p:cNvPr id="15" name="close-marker"/>
          <p:cNvSpPr/>
          <p:nvPr/>
        </p:nvSpPr>
        <p:spPr>
          <a:xfrm>
            <a:off x="7223760" y="3273552"/>
            <a:ext cx="3886200" cy="2743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64592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PathLight cannot change the result. It can make sure no one has to face that page alone, or confused.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5212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Thank you.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hLight Paper">
  <a:themeElements>
    <a:clrScheme name="PathLight Paper">
      <a:dk1>
        <a:srgbClr val="15171C"/>
      </a:dk1>
      <a:lt1>
        <a:srgbClr val="FFFFFF"/>
      </a:lt1>
      <a:dk2>
        <a:srgbClr val="444A54"/>
      </a:dk2>
      <a:lt2>
        <a:srgbClr val="F4F3EF"/>
      </a:lt2>
      <a:accent1>
        <a:srgbClr val="2342B5"/>
      </a:accent1>
      <a:accent2>
        <a:srgbClr val="FFE86B"/>
      </a:accent2>
      <a:accent3>
        <a:srgbClr val="A8400F"/>
      </a:accent3>
      <a:accent4>
        <a:srgbClr val="2C6A44"/>
      </a:accent4>
      <a:accent5>
        <a:srgbClr val="C8C4BA"/>
      </a:accent5>
      <a:accent6>
        <a:srgbClr val="6B7079"/>
      </a:accent6>
      <a:hlink>
        <a:srgbClr val="2342B5"/>
      </a:hlink>
      <a:folHlink>
        <a:srgbClr val="15171C"/>
      </a:folHlink>
    </a:clrScheme>
    <a:fontScheme name="PathLight Pa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PathLight</dc:title>
  <dc:subject>CodeTheCure 2026 final presentation</dc:subject>
  <dc:creator>PptxGenJS</dc:creator>
  <cp:lastModifiedBy>PptxGenJS</cp:lastModifiedBy>
  <cp:revision>1</cp:revision>
  <dcterms:created xsi:type="dcterms:W3CDTF">2026-10-26T07:54:09Z</dcterms:created>
  <dcterms:modified xsi:type="dcterms:W3CDTF">2026-10-26T07:54:09Z</dcterms:modified>
</cp:coreProperties>
</file>